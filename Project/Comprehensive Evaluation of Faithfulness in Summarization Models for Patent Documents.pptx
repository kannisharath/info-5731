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8" r:id="rId2"/>
    <p:sldId id="1233" r:id="rId3"/>
    <p:sldId id="1309" r:id="rId4"/>
    <p:sldId id="1319" r:id="rId5"/>
    <p:sldId id="1310" r:id="rId6"/>
    <p:sldId id="1311" r:id="rId7"/>
    <p:sldId id="1251" r:id="rId8"/>
    <p:sldId id="1312" r:id="rId9"/>
    <p:sldId id="1252" r:id="rId10"/>
    <p:sldId id="1317" r:id="rId11"/>
    <p:sldId id="1316" r:id="rId12"/>
    <p:sldId id="1321" r:id="rId13"/>
    <p:sldId id="1266" r:id="rId14"/>
    <p:sldId id="1305" r:id="rId15"/>
    <p:sldId id="1294" r:id="rId16"/>
    <p:sldId id="1296" r:id="rId17"/>
    <p:sldId id="1248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en, Haihua" initials="CH" lastIdx="3" clrIdx="0">
    <p:extLst>
      <p:ext uri="{19B8F6BF-5375-455C-9EA6-DF929625EA0E}">
        <p15:presenceInfo xmlns:p15="http://schemas.microsoft.com/office/powerpoint/2012/main" userId="S::Haihua.Chen@unt.edu::5fcf27ec-ad9e-4bed-8faf-af78b42dd109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EAB5302-E637-4901-9B9A-FDCBFC9EE293}" v="1" dt="2024-05-06T03:45:46.18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5728" autoAdjust="0"/>
  </p:normalViewPr>
  <p:slideViewPr>
    <p:cSldViewPr snapToGrid="0">
      <p:cViewPr>
        <p:scale>
          <a:sx n="83" d="100"/>
          <a:sy n="83" d="100"/>
        </p:scale>
        <p:origin x="5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nni sharath" userId="930a248af1e22069" providerId="LiveId" clId="{FEAB5302-E637-4901-9B9A-FDCBFC9EE293}"/>
    <pc:docChg chg="custSel modSld">
      <pc:chgData name="kanni sharath" userId="930a248af1e22069" providerId="LiveId" clId="{FEAB5302-E637-4901-9B9A-FDCBFC9EE293}" dt="2024-05-06T04:07:40.081" v="30" actId="33524"/>
      <pc:docMkLst>
        <pc:docMk/>
      </pc:docMkLst>
      <pc:sldChg chg="addSp modSp mod">
        <pc:chgData name="kanni sharath" userId="930a248af1e22069" providerId="LiveId" clId="{FEAB5302-E637-4901-9B9A-FDCBFC9EE293}" dt="2024-05-06T03:54:17.364" v="28" actId="113"/>
        <pc:sldMkLst>
          <pc:docMk/>
          <pc:sldMk cId="35581715" sldId="1248"/>
        </pc:sldMkLst>
        <pc:spChg chg="add mod">
          <ac:chgData name="kanni sharath" userId="930a248af1e22069" providerId="LiveId" clId="{FEAB5302-E637-4901-9B9A-FDCBFC9EE293}" dt="2024-05-06T03:54:17.364" v="28" actId="113"/>
          <ac:spMkLst>
            <pc:docMk/>
            <pc:sldMk cId="35581715" sldId="1248"/>
            <ac:spMk id="3" creationId="{59F61F49-6FE4-CC65-F085-8CE235AE788A}"/>
          </ac:spMkLst>
        </pc:spChg>
      </pc:sldChg>
      <pc:sldChg chg="modSp mod">
        <pc:chgData name="kanni sharath" userId="930a248af1e22069" providerId="LiveId" clId="{FEAB5302-E637-4901-9B9A-FDCBFC9EE293}" dt="2024-05-06T04:07:40.081" v="30" actId="33524"/>
        <pc:sldMkLst>
          <pc:docMk/>
          <pc:sldMk cId="1308124696" sldId="1294"/>
        </pc:sldMkLst>
        <pc:spChg chg="mod">
          <ac:chgData name="kanni sharath" userId="930a248af1e22069" providerId="LiveId" clId="{FEAB5302-E637-4901-9B9A-FDCBFC9EE293}" dt="2024-05-06T04:07:40.081" v="30" actId="33524"/>
          <ac:spMkLst>
            <pc:docMk/>
            <pc:sldMk cId="1308124696" sldId="1294"/>
            <ac:spMk id="14" creationId="{BF90A521-B40A-4D73-9EBD-607244505892}"/>
          </ac:spMkLst>
        </pc:spChg>
      </pc:sldChg>
      <pc:sldChg chg="modSp mod">
        <pc:chgData name="kanni sharath" userId="930a248af1e22069" providerId="LiveId" clId="{FEAB5302-E637-4901-9B9A-FDCBFC9EE293}" dt="2024-05-06T03:56:32.337" v="29" actId="20577"/>
        <pc:sldMkLst>
          <pc:docMk/>
          <pc:sldMk cId="2713528468" sldId="1310"/>
        </pc:sldMkLst>
        <pc:spChg chg="mod">
          <ac:chgData name="kanni sharath" userId="930a248af1e22069" providerId="LiveId" clId="{FEAB5302-E637-4901-9B9A-FDCBFC9EE293}" dt="2024-05-06T03:56:32.337" v="29" actId="20577"/>
          <ac:spMkLst>
            <pc:docMk/>
            <pc:sldMk cId="2713528468" sldId="1310"/>
            <ac:spMk id="6" creationId="{D96A0079-D410-4759-9ADD-E8B547EB204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ED4172-3A32-48CD-BAEA-54AF1D24A17E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1CDA219-B436-4BD9-A347-8539AB2863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09297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3F4D8B-D956-4BAC-9D97-2A71C264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F12523-6374-4594-A5A9-4BE7EB794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AD1C01-292A-4D65-A27A-3E1083A689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375C2D-3CE9-4744-BCC5-3B989AC34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D99E1E-94F2-43F6-B487-59C888D2C6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28145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39030-A8E7-4C4D-8B41-0C4A7D7D6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7D525A-7392-4F0B-9D10-FF1A9747B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7E6F87-93F9-4F22-8C22-CEC99A7AB0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5DA6CC-F3C7-450F-A537-7F0485FD0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4B3B91-4F31-4412-8E80-7638417E6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6557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CF224-116E-43D1-BE31-4D4590FC4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A6A79-7771-424F-8371-961201866F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F061E-76FC-4C1D-B2E6-6196CE066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9937D-85AE-475C-B0FC-70A737684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656BD7-BF4D-478B-A62F-5320F9ABB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70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0B74A-40C7-4528-B3CC-C030D01D29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86CAA0-49FB-40AD-9921-E41C7D15CC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EE5C90-7E1E-40C0-8EB9-F11BBD2330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95EFBE-F653-4CAD-AF57-7B472D6B14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9D1210-D824-4645-B49A-4BBCA37BC3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768271-9F63-4711-9AB4-8F0F23ADD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0212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8885B5-F517-4B65-8372-1ECBE9009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939FD9-4A76-4622-908B-1C8F51E48F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036BE9-70AF-4152-B68E-E3784B7788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69C9B34-9B8F-4476-B11E-5436EE4A01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D59B39E-45E9-4EC3-8F96-CE6EE8060D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9D3251E-88BD-4FF3-AF2D-D9EE9C2657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FEEA8D-4198-4EA6-B902-020AEBBEB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ADE6649-6B72-4196-8952-0D07C4E04F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062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491A1-217B-476B-A41D-4D146786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E71A26-EE3D-4D27-B8B8-AF558235BE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4AE49F6-86EF-4DC5-BFB5-CFEFB04C8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8F55F5F-E020-43BA-A73C-C08322DC4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66589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E066E5-2EA9-438B-AB71-F0FC2F220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2D6476-FF45-4BBF-A9CB-ABFA5E234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7C4EA0-9A86-4235-ABAA-777FD1D32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0900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6B97ED-BF07-4E5A-A27C-6AC47BAC0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5BF581-7DD2-47CD-A986-129A6E4F68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132221-44A6-40D8-BC32-D5D51FE712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80DED-5D82-4433-881A-E04A7FE9EC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CDA335-22F8-4B54-B869-181721158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36DD81-5A75-4EA7-816F-9B38762DD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269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73EA8-A285-4C35-AC30-81EC1A4AA3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700D16-94BD-4425-B042-1BC1F4F1372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DC0ED9-0666-4566-BCE1-826F581C76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22E2B-9355-4CFD-A8D0-DAA79DE1B2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114C9C-5AF7-4B71-9DB3-50533186F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C9EB13-713E-4609-8785-00AED53E3F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323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F5717E-D77D-43A4-8CE0-37082002A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218F4F-B398-45D3-8FB8-B73097A36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5F044-C108-499A-884D-744CCC473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663EF5-4C4B-4414-9BFA-F263142A9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3E9DF9-56F9-4EFA-915A-4D889ED50B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1564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9658EA0-564C-4FC4-B249-5E364F7B76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ABF2F-2B7F-47D8-8591-3D6C16A46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EF53A0-DABD-4E2D-B425-5E597B8990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AFF0F-D2D5-4A65-974F-9A3A5471A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E9CA80-649E-42D8-9C00-FF2CE3BBB1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9954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056F18-D9B3-4242-AC37-67089957F6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241280" y="5764882"/>
            <a:ext cx="1623487" cy="7493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4130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7BB24D-3BC4-455C-8352-A5DDE36EEA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61C2CC-0690-4BE7-871C-2E68CA906A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DA3A71-8E4F-4AF6-B6BF-B1F70B3008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C555D-97FC-4E4B-915E-E8AADFB0AD12}" type="datetimeFigureOut">
              <a:rPr lang="en-US" smtClean="0"/>
              <a:t>5/5/2024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33032E-B1F0-44F5-B1B0-3EB601E37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F1D06C-6D04-4792-B314-5DCB194EE1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16F5C-8456-45CC-9AC1-6362CC83A3D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38066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7" name="Picture 4" descr="Picture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157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38" name="Subtitle 2"/>
          <p:cNvSpPr>
            <a:spLocks noGrp="1"/>
          </p:cNvSpPr>
          <p:nvPr>
            <p:ph type="subTitle" idx="1"/>
          </p:nvPr>
        </p:nvSpPr>
        <p:spPr>
          <a:xfrm>
            <a:off x="3120179" y="4211220"/>
            <a:ext cx="8336103" cy="1295401"/>
          </a:xfrm>
        </p:spPr>
        <p:txBody>
          <a:bodyPr>
            <a:normAutofit/>
          </a:bodyPr>
          <a:lstStyle/>
          <a:p>
            <a:pPr eaLnBrk="1" hangingPunct="1"/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Sharath Chandra Reddy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Karrepu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Yashwanth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Jilla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Tarun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Konda, Pramod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Gangula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,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Muqeet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Mohammad,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Vishwana</a:t>
            </a:r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 </a:t>
            </a:r>
            <a:r>
              <a:rPr lang="en-US" dirty="0" err="1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Gopalapuram</a:t>
            </a:r>
            <a:endParaRPr lang="en-US" dirty="0">
              <a:latin typeface="Calibri" pitchFamily="34" charset="0"/>
              <a:ea typeface="ＭＳ Ｐゴシック" pitchFamily="34" charset="-128"/>
              <a:cs typeface="Calibri" pitchFamily="34" charset="0"/>
            </a:endParaRPr>
          </a:p>
          <a:p>
            <a:pPr eaLnBrk="1" hangingPunct="1"/>
            <a:r>
              <a:rPr lang="en-US" dirty="0">
                <a:latin typeface="Calibri" pitchFamily="34" charset="0"/>
                <a:ea typeface="ＭＳ Ｐゴシック" pitchFamily="34" charset="-128"/>
                <a:cs typeface="Calibri" pitchFamily="34" charset="0"/>
              </a:rPr>
              <a:t>May 5, 2024</a:t>
            </a:r>
            <a:r>
              <a:rPr lang="en-US" dirty="0">
                <a:ea typeface="ＭＳ Ｐゴシック" pitchFamily="34" charset="-128"/>
              </a:rPr>
              <a:t> </a:t>
            </a:r>
          </a:p>
        </p:txBody>
      </p:sp>
      <p:sp>
        <p:nvSpPr>
          <p:cNvPr id="14339" name="Rectangle 2"/>
          <p:cNvSpPr txBox="1">
            <a:spLocks noChangeArrowheads="1"/>
          </p:cNvSpPr>
          <p:nvPr/>
        </p:nvSpPr>
        <p:spPr bwMode="auto">
          <a:xfrm>
            <a:off x="1620371" y="0"/>
            <a:ext cx="6199094" cy="129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/>
            <a:r>
              <a:rPr lang="en-US" altLang="zh-CN" sz="2800" b="1" dirty="0">
                <a:solidFill>
                  <a:schemeClr val="bg1"/>
                </a:solidFill>
                <a:ea typeface="SimSun" pitchFamily="2" charset="-122"/>
              </a:rPr>
              <a:t>Department of Information Science</a:t>
            </a:r>
            <a:endParaRPr lang="en-US" sz="2800" b="1" dirty="0">
              <a:solidFill>
                <a:schemeClr val="bg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2E5D767-FB13-4D10-B516-92441A3CBFA3}"/>
              </a:ext>
            </a:extLst>
          </p:cNvPr>
          <p:cNvSpPr txBox="1"/>
          <p:nvPr/>
        </p:nvSpPr>
        <p:spPr>
          <a:xfrm>
            <a:off x="3195768" y="2284274"/>
            <a:ext cx="818492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/>
              <a:t>Comprehensive Evaluation of Faithfulness in Summarization Models for Patent Documents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270FD56-E13C-4679-A247-9814898135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D42AAE-5C2E-4928-943F-AEAEF3259654}" type="datetime1">
              <a:rPr lang="en-US" smtClean="0"/>
              <a:t>5/5/2024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9A9ED-79D6-418D-9FBD-185C3580A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EBDCADC-325D-8177-FA25-8224E012B696}"/>
              </a:ext>
            </a:extLst>
          </p:cNvPr>
          <p:cNvSpPr txBox="1"/>
          <p:nvPr/>
        </p:nvSpPr>
        <p:spPr>
          <a:xfrm>
            <a:off x="5091631" y="3208263"/>
            <a:ext cx="42120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/>
              <a:t>Group 7</a:t>
            </a:r>
          </a:p>
          <a:p>
            <a:r>
              <a:rPr lang="en-US" sz="3000" b="1" dirty="0"/>
              <a:t>Mentor: </a:t>
            </a:r>
            <a:r>
              <a:rPr lang="en-US" sz="3000" dirty="0" err="1"/>
              <a:t>Huyen</a:t>
            </a:r>
            <a:r>
              <a:rPr lang="en-US" sz="3000" dirty="0"/>
              <a:t> Nguyen</a:t>
            </a:r>
          </a:p>
        </p:txBody>
      </p:sp>
    </p:spTree>
    <p:extLst>
      <p:ext uri="{BB962C8B-B14F-4D97-AF65-F5344CB8AC3E}">
        <p14:creationId xmlns:p14="http://schemas.microsoft.com/office/powerpoint/2010/main" val="32153255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236033B-82D1-F34B-99BD-644C50FD7404}"/>
              </a:ext>
            </a:extLst>
          </p:cNvPr>
          <p:cNvSpPr/>
          <p:nvPr/>
        </p:nvSpPr>
        <p:spPr>
          <a:xfrm>
            <a:off x="510923" y="0"/>
            <a:ext cx="11170153" cy="461664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endParaRPr lang="en-US" sz="2400" b="1" dirty="0"/>
          </a:p>
          <a:p>
            <a:r>
              <a:rPr lang="en-US" sz="3000" b="1" dirty="0"/>
              <a:t>Content:</a:t>
            </a:r>
            <a:endParaRPr lang="en-US" sz="3000" dirty="0"/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Background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Related Work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Methodology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Experiments and results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Discussion and implication  </a:t>
            </a:r>
          </a:p>
          <a:p>
            <a:pPr marL="914400" lvl="1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References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05247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Background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3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14702A-4D87-0576-4EA7-8565C51D68F4}"/>
              </a:ext>
            </a:extLst>
          </p:cNvPr>
          <p:cNvSpPr txBox="1"/>
          <p:nvPr/>
        </p:nvSpPr>
        <p:spPr>
          <a:xfrm>
            <a:off x="295477" y="1872342"/>
            <a:ext cx="11601046" cy="3686629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Patent documents are a crucial source of technical and legal information.</a:t>
            </a:r>
          </a:p>
          <a:p>
            <a:pPr marL="228600" lvl="1">
              <a:lnSpc>
                <a:spcPct val="90000"/>
              </a:lnSpc>
              <a:spcAft>
                <a:spcPts val="600"/>
              </a:spcAft>
            </a:pP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 But their length and complexity make them challenging to navigate and comprehend.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dirty="0"/>
              <a:t>Summarization techniques can help condense these documents into concise summaries, improving accessibility and efficiency for researchers, legal professionals, and the general public.</a:t>
            </a:r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  <a:p>
            <a:pPr lvl="1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2000" b="0" i="0" dirty="0">
                <a:solidFill>
                  <a:srgbClr val="0D0D0D"/>
                </a:solidFill>
                <a:effectLst/>
                <a:highlight>
                  <a:srgbClr val="FFFFFF"/>
                </a:highlight>
                <a:latin typeface="Söhne"/>
              </a:rPr>
              <a:t>Concise summaries allow decision-makers to quickly grasp the essence of a patent, facilitating faster strategic decisions regarding intellectual property management, litigation, or licensing opportunities.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737882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Background (Cont.)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4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0079-D410-4759-9ADD-E8B547EB204A}"/>
              </a:ext>
            </a:extLst>
          </p:cNvPr>
          <p:cNvSpPr txBox="1"/>
          <p:nvPr/>
        </p:nvSpPr>
        <p:spPr>
          <a:xfrm>
            <a:off x="499138" y="762478"/>
            <a:ext cx="11193724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Challenges</a:t>
            </a:r>
          </a:p>
          <a:p>
            <a:endParaRPr lang="en-US" sz="2800" dirty="0"/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Faithfulness and Hallucinations: Existing summarization models often generate unfaithful summaries that contain hallucinated or factually inconsistent information, which is unacceptable in legal and technical domains where accuracy is paramount.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Domain-Specific Language: Patent documents contain specialized terminology, complex sentence structures, and domain-specific language, making it challenging for general-purpose summarization models to capture the nuances and preserve the semantic integrity of the content.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Evaluation Metrics: Traditional evaluation metrics like ROUGE may not accurately assess the faithfulness and factual consistency of summaries, necessitating the development of new metrics tailored to the legal and technical domains.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94378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Background (Cont.)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5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0079-D410-4759-9ADD-E8B547EB204A}"/>
              </a:ext>
            </a:extLst>
          </p:cNvPr>
          <p:cNvSpPr txBox="1"/>
          <p:nvPr/>
        </p:nvSpPr>
        <p:spPr>
          <a:xfrm>
            <a:off x="499138" y="762478"/>
            <a:ext cx="11193724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Research Objects </a:t>
            </a:r>
          </a:p>
          <a:p>
            <a:pPr lvl="1"/>
            <a:endParaRPr lang="en-US" sz="2400" dirty="0"/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Evaluate the faithfulness of PLMs and LLMs in summarizing patents, focusing on accuracy and precision. 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/>
              <a:t>Explore the effectiveness of ROUGE, </a:t>
            </a:r>
            <a:r>
              <a:rPr lang="en-US" sz="2400" dirty="0" err="1"/>
              <a:t>BERTscore</a:t>
            </a:r>
            <a:r>
              <a:rPr lang="en-US" sz="2400" dirty="0"/>
              <a:t>, </a:t>
            </a:r>
            <a:r>
              <a:rPr lang="en-US" sz="2400" dirty="0" err="1"/>
              <a:t>SummaC</a:t>
            </a:r>
            <a:r>
              <a:rPr lang="en-US" sz="2400" dirty="0"/>
              <a:t> in automatically evaluating the faithfulness of patent document summaries..</a:t>
            </a:r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lvl="1"/>
            <a:endParaRPr lang="en-US" sz="2400" dirty="0"/>
          </a:p>
          <a:p>
            <a:pPr marL="914400" lvl="1" indent="-457200">
              <a:buFont typeface="+mj-lt"/>
              <a:buAutoNum type="arabicParenR"/>
            </a:pPr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135284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Background (Cont.)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6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96A0079-D410-4759-9ADD-E8B547EB204A}"/>
              </a:ext>
            </a:extLst>
          </p:cNvPr>
          <p:cNvSpPr txBox="1"/>
          <p:nvPr/>
        </p:nvSpPr>
        <p:spPr>
          <a:xfrm>
            <a:off x="499138" y="762478"/>
            <a:ext cx="11193724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Research Contributions </a:t>
            </a:r>
          </a:p>
          <a:p>
            <a:pPr lvl="1"/>
            <a:endParaRPr lang="en-US" sz="24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Conducting a comprehensive evaluation of summarization models' faithfulness on patent documents, emphasizing the critical need for accuracy and precision in this domain. 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Utilizing state-of-the-art PLMs ( T5) and LLMs ( Llama) in various settings (Finetuning, Zero-shot, Automatic evaluation) for summarization tasks.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Incorporating automatic evaluation metrics and manual assessment for clarity, accuracy, and coverage, ensuring a thorough evaluation of summary faithfulness. </a:t>
            </a:r>
            <a:br>
              <a:rPr lang="en-US" sz="2200" dirty="0"/>
            </a:br>
            <a:endParaRPr lang="en-US" sz="2200" dirty="0"/>
          </a:p>
          <a:p>
            <a:pPr marL="800100" lvl="1" indent="-342900">
              <a:buFont typeface="Wingdings" panose="05000000000000000000" pitchFamily="2" charset="2"/>
              <a:buChar char="Ø"/>
            </a:pPr>
            <a:r>
              <a:rPr lang="en-US" sz="2200" dirty="0"/>
              <a:t>Advancing natural language processing in the legal domain to potentially enhance legal document accessibility and processing efficiency for a range of stakeholders.</a:t>
            </a:r>
          </a:p>
        </p:txBody>
      </p:sp>
    </p:spTree>
    <p:extLst>
      <p:ext uri="{BB962C8B-B14F-4D97-AF65-F5344CB8AC3E}">
        <p14:creationId xmlns:p14="http://schemas.microsoft.com/office/powerpoint/2010/main" val="16804378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Related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8793-FE06-244A-997A-D6D1ED62CF11}"/>
              </a:ext>
            </a:extLst>
          </p:cNvPr>
          <p:cNvSpPr txBox="1"/>
          <p:nvPr/>
        </p:nvSpPr>
        <p:spPr>
          <a:xfrm>
            <a:off x="499138" y="1027713"/>
            <a:ext cx="11193724" cy="44935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200" dirty="0"/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Convolutional Seq2Seq models for abstractive summarization with attention, copying, and residual connections, tested on </a:t>
            </a:r>
            <a:r>
              <a:rPr lang="en-US" sz="2200" dirty="0" err="1"/>
              <a:t>GigaWord</a:t>
            </a:r>
            <a:r>
              <a:rPr lang="en-US" sz="2200" dirty="0"/>
              <a:t> and DUC [1].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PGAN-ATSMT: GAN with multi-task constraints for informative, grammatical summaries, tested on CNN/Daily Mail and </a:t>
            </a:r>
            <a:r>
              <a:rPr lang="en-US" sz="2200" dirty="0" err="1"/>
              <a:t>Gigaword</a:t>
            </a:r>
            <a:r>
              <a:rPr lang="en-US" sz="2200" dirty="0"/>
              <a:t> [2].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Evolution of deep learning for summarization with encoder-decoder, RNNs, LSTMs, using </a:t>
            </a:r>
            <a:r>
              <a:rPr lang="en-US" sz="2200" dirty="0" err="1"/>
              <a:t>Gigaword</a:t>
            </a:r>
            <a:r>
              <a:rPr lang="en-US" sz="2200" dirty="0"/>
              <a:t>, CNN/Daily Mail, and ROUGE [3].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Neural model for single-document summarization with sentence extraction and compression, tested on CNN/Daily Mail and New York Times [4].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Semantic-based summarization using Word2Vec, evaluated on DUC-2007 with ROUGE [5].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200" dirty="0"/>
              <a:t>Compressive approaches for cross-language summarization, improving French-to-English summaries [6].</a:t>
            </a:r>
          </a:p>
        </p:txBody>
      </p:sp>
    </p:spTree>
    <p:extLst>
      <p:ext uri="{BB962C8B-B14F-4D97-AF65-F5344CB8AC3E}">
        <p14:creationId xmlns:p14="http://schemas.microsoft.com/office/powerpoint/2010/main" val="2379203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Related work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8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8B8793-FE06-244A-997A-D6D1ED62CF11}"/>
              </a:ext>
            </a:extLst>
          </p:cNvPr>
          <p:cNvSpPr txBox="1"/>
          <p:nvPr/>
        </p:nvSpPr>
        <p:spPr>
          <a:xfrm>
            <a:off x="499138" y="762478"/>
            <a:ext cx="1119372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Domain Concepts</a:t>
            </a:r>
          </a:p>
          <a:p>
            <a:pPr marL="914400" lvl="1" indent="-457200">
              <a:buFont typeface="Wingdings" pitchFamily="2" charset="2"/>
              <a:buChar char="Ø"/>
            </a:pPr>
            <a:endParaRPr lang="en-US" sz="2400" dirty="0"/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Patent documents contain specialized terminology, complex sentence structures, and domain-specific language, making it challenging for general-purpose summarization models to capture the nuances and preserve the semantic integrity of the content. [5]</a:t>
            </a:r>
          </a:p>
          <a:p>
            <a:pPr marL="914400" lvl="1" indent="-457200">
              <a:buFont typeface="Wingdings" pitchFamily="2" charset="2"/>
              <a:buChar char="Ø"/>
            </a:pPr>
            <a:endParaRPr lang="en-US" sz="2400" dirty="0"/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The paper introduces an innovative deep learning approach for multi-document summarization of patent documents, utilizing a Generative Adversarial Network (GAN) to address the unique challenges of patent language and structure.[2]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8804152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E75832-87AA-21A7-C420-631F9FE172BF}"/>
              </a:ext>
            </a:extLst>
          </p:cNvPr>
          <p:cNvSpPr txBox="1"/>
          <p:nvPr/>
        </p:nvSpPr>
        <p:spPr>
          <a:xfrm>
            <a:off x="3298371" y="5628656"/>
            <a:ext cx="58541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Figure: An illustration of text summarization pipeline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B2B6862-93D9-6448-9B0D-9C901115E4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3161" y="1251647"/>
            <a:ext cx="9098857" cy="438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74556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10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1EA7F-66D5-117C-1962-E84ACD93EB9D}"/>
              </a:ext>
            </a:extLst>
          </p:cNvPr>
          <p:cNvSpPr txBox="1"/>
          <p:nvPr/>
        </p:nvSpPr>
        <p:spPr>
          <a:xfrm>
            <a:off x="499138" y="1408713"/>
            <a:ext cx="1119372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v"/>
            </a:pPr>
            <a:r>
              <a:rPr lang="en-US" sz="2200" b="1" dirty="0"/>
              <a:t>Data Collection: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Patent documents will be selected as the case study dataset.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dataset will be made accessible through provided links.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It will include essential metadata, document length, and other relevant statistics.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200" dirty="0"/>
          </a:p>
          <a:p>
            <a:pPr marL="342900" indent="-342900">
              <a:buFont typeface="Wingdings" pitchFamily="2" charset="2"/>
              <a:buChar char="v"/>
            </a:pPr>
            <a:r>
              <a:rPr lang="en-US" sz="2200" b="1" dirty="0"/>
              <a:t>Data Preprocessing and Cleaning: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dataset will undergo meticulous preprocessing to reformat it into structured formats.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Key fields such as </a:t>
            </a:r>
            <a:r>
              <a:rPr lang="en-US" sz="2200" dirty="0" err="1"/>
              <a:t>patentid</a:t>
            </a:r>
            <a:r>
              <a:rPr lang="en-US" sz="2200" dirty="0"/>
              <a:t>, link, X (source document), and </a:t>
            </a:r>
            <a:r>
              <a:rPr lang="en-US" sz="2200" dirty="0" err="1"/>
              <a:t>Yref</a:t>
            </a:r>
            <a:r>
              <a:rPr lang="en-US" sz="2200" dirty="0"/>
              <a:t> (reference summary) will be extracted.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200" dirty="0"/>
              <a:t>The dataset will be partitioned into an 80% training set and a 20% testing set for model evaluation.</a:t>
            </a:r>
          </a:p>
        </p:txBody>
      </p:sp>
    </p:spTree>
    <p:extLst>
      <p:ext uri="{BB962C8B-B14F-4D97-AF65-F5344CB8AC3E}">
        <p14:creationId xmlns:p14="http://schemas.microsoft.com/office/powerpoint/2010/main" val="16882443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11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1EA7F-66D5-117C-1962-E84ACD93EB9D}"/>
              </a:ext>
            </a:extLst>
          </p:cNvPr>
          <p:cNvSpPr txBox="1"/>
          <p:nvPr/>
        </p:nvSpPr>
        <p:spPr>
          <a:xfrm>
            <a:off x="499138" y="906601"/>
            <a:ext cx="1119372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/>
              <a:t>For the Zero-shot Method: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Llama 2 model will be employed through the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test set will be used, with X as the document input and </a:t>
            </a:r>
            <a:r>
              <a:rPr lang="en-US" sz="2000" dirty="0" err="1"/>
              <a:t>Y_ref</a:t>
            </a:r>
            <a:r>
              <a:rPr lang="en-US" sz="2000" dirty="0"/>
              <a:t> for evaluation.</a:t>
            </a:r>
          </a:p>
          <a:p>
            <a:r>
              <a:rPr lang="en-US" sz="2000" b="1" dirty="0"/>
              <a:t>For Finetuning experiments: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Pre-trained Language Models (PLMs) like T5 will be used.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models will be finetuned on the training set to enhance summarization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The finetuned models will generate summaries for the test set.</a:t>
            </a:r>
          </a:p>
          <a:p>
            <a:r>
              <a:rPr lang="en-US" sz="2000" b="1" dirty="0"/>
              <a:t>Evaluation: </a:t>
            </a:r>
          </a:p>
          <a:p>
            <a:r>
              <a:rPr lang="en-US" sz="2000" dirty="0"/>
              <a:t>Automatic evaluation metrics like ROUGE, </a:t>
            </a:r>
            <a:r>
              <a:rPr lang="en-US" sz="2000" dirty="0" err="1"/>
              <a:t>BERTscore</a:t>
            </a:r>
            <a:r>
              <a:rPr lang="en-US" sz="2000" dirty="0"/>
              <a:t>, </a:t>
            </a:r>
            <a:r>
              <a:rPr lang="en-US" sz="2000" dirty="0" err="1"/>
              <a:t>SummaC,will</a:t>
            </a:r>
            <a:r>
              <a:rPr lang="en-US" sz="2000" dirty="0"/>
              <a:t> be applied on: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Generated summaries vs reference summaries 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Generated summaries vs source documents . </a:t>
            </a:r>
          </a:p>
          <a:p>
            <a:r>
              <a:rPr lang="en-US" sz="2000" b="1" dirty="0"/>
              <a:t>Manual evaluation:</a:t>
            </a:r>
          </a:p>
          <a:p>
            <a:r>
              <a:rPr lang="en-US" sz="2000" dirty="0"/>
              <a:t>Will be conducted on 20 examples to assess: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Clarity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Accuracy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Coverage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This will provide a qualitative assessment of the models' faithfulness.</a:t>
            </a:r>
          </a:p>
        </p:txBody>
      </p:sp>
    </p:spTree>
    <p:extLst>
      <p:ext uri="{BB962C8B-B14F-4D97-AF65-F5344CB8AC3E}">
        <p14:creationId xmlns:p14="http://schemas.microsoft.com/office/powerpoint/2010/main" val="22408718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EA092-3454-48D3-C7F8-BB69CCD2D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199" y="278041"/>
            <a:ext cx="10515600" cy="662588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4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Results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46A34-E6CD-CBEC-D4FE-70D9DB48C9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7094" y="1218670"/>
            <a:ext cx="10515600" cy="4351338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Overall Results for </a:t>
            </a:r>
            <a:r>
              <a:rPr lang="en-US" b="1" dirty="0" err="1"/>
              <a:t>Zeroshot</a:t>
            </a:r>
            <a:r>
              <a:rPr lang="en-US" b="1" dirty="0"/>
              <a:t>:</a:t>
            </a:r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 err="1"/>
              <a:t>SummaC</a:t>
            </a:r>
            <a:r>
              <a:rPr lang="en-US" dirty="0"/>
              <a:t>: 0.93, indicating high factual consistency and low hallucination.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/>
              <a:t>BERT: 0.67, showing good semantic similarity with reference summaries.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/>
              <a:t>ROUGE-1: 0.57, suggesting moderate unigram overlap with references.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/>
              <a:t>ROUGE-2: 0.34, indicating lower bigram overlap, possibly missing key phrases.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dirty="0"/>
              <a:t>ROUGE-L: 0.41, moderate longest common subsequence, capturing some key information.</a:t>
            </a:r>
          </a:p>
          <a:p>
            <a:endParaRPr lang="en-US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3077EC-E3DC-C292-2B28-0A9E0EE19C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87F50C3-CD46-9310-2AB7-B50E73E4E6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42F04FC-1A51-E110-FCA3-A15BF0E8B7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0165430"/>
              </p:ext>
            </p:extLst>
          </p:nvPr>
        </p:nvGraphicFramePr>
        <p:xfrm>
          <a:off x="1777998" y="1815495"/>
          <a:ext cx="8128002" cy="74168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13762227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15001722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1148436036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413541369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4178558318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384833476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Metrics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Summac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Rouge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Rouge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Rouge 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Bert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126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u="none" strike="noStrike" dirty="0">
                          <a:effectLst/>
                        </a:rPr>
                        <a:t>Scores</a:t>
                      </a:r>
                      <a:endParaRPr lang="en-US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0.67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67113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81575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191550"/>
            <a:ext cx="8534399" cy="132556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Results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13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31B08D-6C7A-4DB2-869F-8BE324042C06}"/>
              </a:ext>
            </a:extLst>
          </p:cNvPr>
          <p:cNvSpPr txBox="1"/>
          <p:nvPr/>
        </p:nvSpPr>
        <p:spPr>
          <a:xfrm>
            <a:off x="4441611" y="2771317"/>
            <a:ext cx="304658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Table: Overall results of model scores.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5FDF35-F1CA-6ADF-5DC1-D1F47146CB9B}"/>
              </a:ext>
            </a:extLst>
          </p:cNvPr>
          <p:cNvSpPr txBox="1"/>
          <p:nvPr/>
        </p:nvSpPr>
        <p:spPr>
          <a:xfrm>
            <a:off x="499137" y="1134013"/>
            <a:ext cx="111937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Overall Results for Finetuning: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5B749CF-E2C3-478E-922D-947A51B281B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629944"/>
              </p:ext>
            </p:extLst>
          </p:nvPr>
        </p:nvGraphicFramePr>
        <p:xfrm>
          <a:off x="2882899" y="1763533"/>
          <a:ext cx="6426199" cy="787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78434">
                  <a:extLst>
                    <a:ext uri="{9D8B030D-6E8A-4147-A177-3AD203B41FA5}">
                      <a16:colId xmlns:a16="http://schemas.microsoft.com/office/drawing/2014/main" val="3050819230"/>
                    </a:ext>
                  </a:extLst>
                </a:gridCol>
                <a:gridCol w="1217996">
                  <a:extLst>
                    <a:ext uri="{9D8B030D-6E8A-4147-A177-3AD203B41FA5}">
                      <a16:colId xmlns:a16="http://schemas.microsoft.com/office/drawing/2014/main" val="1169031311"/>
                    </a:ext>
                  </a:extLst>
                </a:gridCol>
                <a:gridCol w="761248">
                  <a:extLst>
                    <a:ext uri="{9D8B030D-6E8A-4147-A177-3AD203B41FA5}">
                      <a16:colId xmlns:a16="http://schemas.microsoft.com/office/drawing/2014/main" val="1349453103"/>
                    </a:ext>
                  </a:extLst>
                </a:gridCol>
                <a:gridCol w="1132356">
                  <a:extLst>
                    <a:ext uri="{9D8B030D-6E8A-4147-A177-3AD203B41FA5}">
                      <a16:colId xmlns:a16="http://schemas.microsoft.com/office/drawing/2014/main" val="3564144001"/>
                    </a:ext>
                  </a:extLst>
                </a:gridCol>
                <a:gridCol w="1132356">
                  <a:extLst>
                    <a:ext uri="{9D8B030D-6E8A-4147-A177-3AD203B41FA5}">
                      <a16:colId xmlns:a16="http://schemas.microsoft.com/office/drawing/2014/main" val="640563165"/>
                    </a:ext>
                  </a:extLst>
                </a:gridCol>
                <a:gridCol w="1103809">
                  <a:extLst>
                    <a:ext uri="{9D8B030D-6E8A-4147-A177-3AD203B41FA5}">
                      <a16:colId xmlns:a16="http://schemas.microsoft.com/office/drawing/2014/main" val="2171807344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Metrics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 err="1">
                          <a:effectLst/>
                        </a:rPr>
                        <a:t>SuumaC</a:t>
                      </a:r>
                      <a:r>
                        <a:rPr lang="en-US" sz="2400" u="none" strike="noStrike" dirty="0">
                          <a:effectLst/>
                        </a:rPr>
                        <a:t> 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BERT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Rouge 1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Rouge 2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>
                          <a:effectLst/>
                        </a:rPr>
                        <a:t>Rouge L</a:t>
                      </a:r>
                      <a:endParaRPr lang="en-US" sz="24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396555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algn="l" fontAlgn="b"/>
                      <a:r>
                        <a:rPr lang="en-US" sz="2400" u="none" strike="noStrike" dirty="0">
                          <a:effectLst/>
                        </a:rPr>
                        <a:t>Scores</a:t>
                      </a:r>
                      <a:endParaRPr lang="en-US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0.92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0.70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0.53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0.39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2400" u="none" strike="noStrike" dirty="0">
                          <a:effectLst/>
                        </a:rPr>
                        <a:t>0.45</a:t>
                      </a:r>
                      <a:endParaRPr lang="en-US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1346283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FF2FCAD-0F51-9D60-2216-9756340FB3B9}"/>
              </a:ext>
            </a:extLst>
          </p:cNvPr>
          <p:cNvSpPr txBox="1"/>
          <p:nvPr/>
        </p:nvSpPr>
        <p:spPr>
          <a:xfrm>
            <a:off x="0" y="3299479"/>
            <a:ext cx="12192000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 err="1"/>
              <a:t>SummaC</a:t>
            </a:r>
            <a:r>
              <a:rPr lang="en-US" sz="2400" dirty="0"/>
              <a:t>: 0.92, indicating high factual consistency and low hallucination.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BERT: 0.70, showing good semantic similarity with reference summaries.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ROUGE-1: 0.53, suggesting moderate unigram overlap with references.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ROUGE-2: 0.39, indicating lower bigram overlap, possibly missing key phrases. </a:t>
            </a:r>
          </a:p>
          <a:p>
            <a:pPr marL="914400" lvl="1" indent="-457200">
              <a:buFont typeface="Wingdings" pitchFamily="2" charset="2"/>
              <a:buChar char="Ø"/>
            </a:pPr>
            <a:r>
              <a:rPr lang="en-US" sz="2400" dirty="0"/>
              <a:t>ROUGE-L: 0.45, moderate longest common subsequence, capturing some key information.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13442157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792085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Evaluation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55F0A6-119F-44F2-87D5-FC79552BF094}"/>
              </a:ext>
            </a:extLst>
          </p:cNvPr>
          <p:cNvSpPr txBox="1"/>
          <p:nvPr/>
        </p:nvSpPr>
        <p:spPr>
          <a:xfrm>
            <a:off x="1168400" y="1156110"/>
            <a:ext cx="8792085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Ideally BERT &amp; Summac have high scores on all metrics, suggesting they capture both factual accuracy, semantic meaning, and key information from the source text.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If a model scores well on ROUGE metrics but low on BERT Score, it might be good at including keywords from the original text but struggle to capture the overall meaning.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Conversely, a model high on BERT Score but low on ROUGE might paraphrase well but miss some important factual details.</a:t>
            </a:r>
          </a:p>
        </p:txBody>
      </p:sp>
    </p:spTree>
    <p:extLst>
      <p:ext uri="{BB962C8B-B14F-4D97-AF65-F5344CB8AC3E}">
        <p14:creationId xmlns:p14="http://schemas.microsoft.com/office/powerpoint/2010/main" val="37408000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792085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Discussion and implication 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15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A521-B40A-4D73-9EBD-607244505892}"/>
              </a:ext>
            </a:extLst>
          </p:cNvPr>
          <p:cNvSpPr txBox="1"/>
          <p:nvPr/>
        </p:nvSpPr>
        <p:spPr>
          <a:xfrm>
            <a:off x="838200" y="1027713"/>
            <a:ext cx="10959703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Based on the comparison of metrics Summac gives the highest score on the data analyzation.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BERT scores and Rouge score are corelated more compared to Summac scores.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Compressive approaches using multi-sentence compression and neural networks enhanced the quality 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Traditional evaluation metrics like ROUGE may not accurately capture semantic meaning and factual consistency.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0" i="0" dirty="0">
                <a:effectLst/>
              </a:rPr>
              <a:t>Necessitating new metrics like </a:t>
            </a:r>
            <a:r>
              <a:rPr lang="en-US" sz="2400" b="0" i="0" dirty="0" err="1">
                <a:effectLst/>
              </a:rPr>
              <a:t>SummaC</a:t>
            </a:r>
            <a:r>
              <a:rPr lang="en-US" sz="2400" b="0" i="0" dirty="0">
                <a:effectLst/>
              </a:rPr>
              <a:t> for faithfulness evaluation.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The summaries generated using Finetuning , for some of the data samples the summaries generated, and reference summaries are same.</a:t>
            </a:r>
          </a:p>
        </p:txBody>
      </p:sp>
    </p:spTree>
    <p:extLst>
      <p:ext uri="{BB962C8B-B14F-4D97-AF65-F5344CB8AC3E}">
        <p14:creationId xmlns:p14="http://schemas.microsoft.com/office/powerpoint/2010/main" val="130812469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9981" y="-73916"/>
            <a:ext cx="8792085" cy="1325563"/>
          </a:xfrm>
        </p:spPr>
        <p:txBody>
          <a:bodyPr>
            <a:normAutofit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References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0F6D7DAD-A522-4829-A995-125359F33C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013A7F-E6D4-4977-B32B-348841DBE3F6}" type="datetime1">
              <a:rPr lang="en-US" smtClean="0"/>
              <a:t>5/5/2024</a:t>
            </a:fld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094AACD-EF30-4201-97EA-85CE414571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16</a:t>
            </a:fld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F90A521-B40A-4D73-9EBD-607244505892}"/>
              </a:ext>
            </a:extLst>
          </p:cNvPr>
          <p:cNvSpPr txBox="1"/>
          <p:nvPr/>
        </p:nvSpPr>
        <p:spPr>
          <a:xfrm>
            <a:off x="408015" y="1141731"/>
            <a:ext cx="1086096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Y. Zhang, D. Li, Y. Wang, Y. Fang, and W. Xiao, "Abstract text summarization with a convolutional seq2seq model," Applied Sciences, vol. 9, no. 8, 2019.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M. Yang, X. Wang, Y. Lu, J. </a:t>
            </a:r>
            <a:r>
              <a:rPr lang="en-US" sz="1700" i="1" dirty="0" err="1"/>
              <a:t>Lv</a:t>
            </a:r>
            <a:r>
              <a:rPr lang="en-US" sz="1700" i="1" dirty="0"/>
              <a:t>, Y. Shen, and C. Li, "Plausibility-promoting generative adversarial network for abstractive text summarization with multitask constraint," Information Sciences, vol. 521, pp. 46–61, 2020.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D. Suleiman and A. </a:t>
            </a:r>
            <a:r>
              <a:rPr lang="en-US" sz="1700" i="1" dirty="0" err="1"/>
              <a:t>Awajan</a:t>
            </a:r>
            <a:r>
              <a:rPr lang="en-US" sz="1700" i="1" dirty="0"/>
              <a:t>, "Deep learning based abstractive text summarization: Approaches, datasets, evaluation measures, and challenges," 2020.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J. Xu and G. Durrett, "Neural extractive text summarization with syntactic compression," </a:t>
            </a:r>
            <a:r>
              <a:rPr lang="en-US" sz="1700" i="1" dirty="0" err="1"/>
              <a:t>arXiv</a:t>
            </a:r>
            <a:r>
              <a:rPr lang="en-US" sz="1700" i="1" dirty="0"/>
              <a:t> preprint arXiv:1902.00863, 2019.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M. </a:t>
            </a:r>
            <a:r>
              <a:rPr lang="en-US" sz="1700" i="1" dirty="0" err="1"/>
              <a:t>Mohd</a:t>
            </a:r>
            <a:r>
              <a:rPr lang="en-US" sz="1700" i="1" dirty="0"/>
              <a:t>, R. Jan, and M. Shah, "Text document summarization using word embedding," Expert Systems with Applications, vol. 143, 2020.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E. </a:t>
            </a:r>
            <a:r>
              <a:rPr lang="en-US" sz="1700" i="1" dirty="0" err="1"/>
              <a:t>Linhares</a:t>
            </a:r>
            <a:r>
              <a:rPr lang="en-US" sz="1700" i="1" dirty="0"/>
              <a:t> Pontes, S. </a:t>
            </a:r>
            <a:r>
              <a:rPr lang="en-US" sz="1700" i="1" dirty="0" err="1"/>
              <a:t>Huet</a:t>
            </a:r>
            <a:r>
              <a:rPr lang="en-US" sz="1700" i="1" dirty="0"/>
              <a:t>, J. M. Torres-Moreno, and A. C. </a:t>
            </a:r>
            <a:r>
              <a:rPr lang="en-US" sz="1700" i="1" dirty="0" err="1"/>
              <a:t>Linhares</a:t>
            </a:r>
            <a:r>
              <a:rPr lang="en-US" sz="1700" i="1" dirty="0"/>
              <a:t>, "Compressive approaches for cross-language multi-document summarization," Data and Knowledge Engineering, vol. 123, 2019.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M. Zhong, P. Liu, D. </a:t>
            </a:r>
            <a:r>
              <a:rPr lang="en-US" sz="1700" i="1" dirty="0" err="1"/>
              <a:t>Qiu</a:t>
            </a:r>
            <a:r>
              <a:rPr lang="en-US" sz="1700" i="1" dirty="0"/>
              <a:t>, X. Huang, X. Jiang, and Y. Huang, "Extractive summarization as text matching," </a:t>
            </a:r>
            <a:r>
              <a:rPr lang="en-US" sz="1700" i="1" dirty="0" err="1"/>
              <a:t>arXiv</a:t>
            </a:r>
            <a:r>
              <a:rPr lang="en-US" sz="1700" i="1" dirty="0"/>
              <a:t> preprint arXiv:2004.08795, 2020.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S. Mallik, S. </a:t>
            </a:r>
            <a:r>
              <a:rPr lang="en-US" sz="1700" i="1" dirty="0" err="1"/>
              <a:t>Saha</a:t>
            </a:r>
            <a:r>
              <a:rPr lang="en-US" sz="1700" i="1" dirty="0"/>
              <a:t>, and A. </a:t>
            </a:r>
            <a:r>
              <a:rPr lang="en-US" sz="1700" i="1" dirty="0" err="1"/>
              <a:t>Ekbal</a:t>
            </a:r>
            <a:r>
              <a:rPr lang="en-US" sz="1700" i="1" dirty="0"/>
              <a:t>, "Word embedding-based text summarization and evaluation," Multimedia Tools and Applications, vol. 80, no. 2, pp. 2489–2515, 2021.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S. Srivastava, S. Chaturvedi, K. M. Tripathi, S. Zaheer, R. Singh, and N. Chandra, "Deep learning for multi-document abstractive summarization: A two-level approach for patent documents," </a:t>
            </a:r>
            <a:r>
              <a:rPr lang="en-US" sz="1700" i="1" dirty="0" err="1"/>
              <a:t>arXiv</a:t>
            </a:r>
            <a:r>
              <a:rPr lang="en-US" sz="1700" i="1" dirty="0"/>
              <a:t> preprint arXiv:2103.14740, 2021.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700" i="1" dirty="0"/>
              <a:t>A. </a:t>
            </a:r>
            <a:r>
              <a:rPr lang="en-US" sz="1700" i="1" dirty="0" err="1"/>
              <a:t>Troshin</a:t>
            </a:r>
            <a:r>
              <a:rPr lang="en-US" sz="1700" i="1" dirty="0"/>
              <a:t>, J. M. Sierra, V. </a:t>
            </a:r>
            <a:r>
              <a:rPr lang="en-US" sz="1700" i="1" dirty="0" err="1"/>
              <a:t>Gurevych</a:t>
            </a:r>
            <a:r>
              <a:rPr lang="en-US" sz="1700" i="1" dirty="0"/>
              <a:t>, and G. </a:t>
            </a:r>
            <a:r>
              <a:rPr lang="en-US" sz="1700" i="1" dirty="0" err="1"/>
              <a:t>Glavaš</a:t>
            </a:r>
            <a:r>
              <a:rPr lang="en-US" sz="1700" i="1" dirty="0"/>
              <a:t>, "Evaluating document similarity measures for </a:t>
            </a:r>
            <a:r>
              <a:rPr lang="en-US" sz="1700" i="1" dirty="0" err="1"/>
              <a:t>nlp</a:t>
            </a:r>
            <a:r>
              <a:rPr lang="en-US" sz="1700" i="1" dirty="0"/>
              <a:t>," </a:t>
            </a:r>
            <a:r>
              <a:rPr lang="en-US" sz="1700" i="1" dirty="0" err="1"/>
              <a:t>arXiv</a:t>
            </a:r>
            <a:r>
              <a:rPr lang="en-US" sz="1700" i="1" dirty="0"/>
              <a:t> preprint arXiv:2205.08135, 2022.</a:t>
            </a:r>
          </a:p>
        </p:txBody>
      </p:sp>
    </p:spTree>
    <p:extLst>
      <p:ext uri="{BB962C8B-B14F-4D97-AF65-F5344CB8AC3E}">
        <p14:creationId xmlns:p14="http://schemas.microsoft.com/office/powerpoint/2010/main" val="207566193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5BE0D3-C438-4B1E-8C55-7538F2D6E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5385" y="2684033"/>
            <a:ext cx="8784860" cy="1325563"/>
          </a:xfrm>
        </p:spPr>
        <p:txBody>
          <a:bodyPr>
            <a:normAutofit fontScale="90000"/>
          </a:bodyPr>
          <a:lstStyle/>
          <a:p>
            <a:pPr algn="ctr"/>
            <a: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Thank you!</a:t>
            </a:r>
            <a:b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</a:br>
            <a:br>
              <a:rPr lang="en-US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</a:br>
            <a:r>
              <a:rPr lang="en-US" altLang="zh-CN" sz="4000" dirty="0">
                <a:solidFill>
                  <a:srgbClr val="059033"/>
                </a:solidFill>
                <a:latin typeface="Times New Roman" charset="0"/>
                <a:ea typeface="ＭＳ Ｐゴシック" charset="0"/>
              </a:rPr>
              <a:t>Question?</a:t>
            </a:r>
            <a:endParaRPr lang="en-US" sz="4000" dirty="0">
              <a:solidFill>
                <a:srgbClr val="059033"/>
              </a:solidFill>
              <a:latin typeface="Times New Roman" charset="0"/>
              <a:ea typeface="ＭＳ Ｐゴシック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6B2F28A-D7D7-4D29-8DA3-8BB7A23D0D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168401" cy="10277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6EAE373-22F4-40C3-A204-6DE2D6EEF7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5962" y="0"/>
            <a:ext cx="1846038" cy="1027713"/>
          </a:xfrm>
          <a:prstGeom prst="rect">
            <a:avLst/>
          </a:prstGeom>
        </p:spPr>
      </p:pic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E02E08FC-3140-42D2-9452-569AD46A4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C2D17-AEFB-4E60-BDEA-C1A69721129E}" type="datetime1">
              <a:rPr lang="en-US" smtClean="0"/>
              <a:t>5/5/2024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131F0-7678-4609-A4FB-1B9426011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A4E1DE-E518-41B0-AF19-13631BA9D2F9}" type="slidenum">
              <a:rPr lang="en-US" smtClean="0"/>
              <a:t>17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9F61F49-6FE4-CC65-F085-8CE235AE788A}"/>
              </a:ext>
            </a:extLst>
          </p:cNvPr>
          <p:cNvSpPr txBox="1"/>
          <p:nvPr/>
        </p:nvSpPr>
        <p:spPr>
          <a:xfrm>
            <a:off x="927215" y="1325990"/>
            <a:ext cx="9601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Github</a:t>
            </a:r>
            <a:r>
              <a:rPr lang="en-US" b="1" dirty="0"/>
              <a:t> Link: </a:t>
            </a:r>
            <a:r>
              <a:rPr lang="en-US" dirty="0"/>
              <a:t>https://github.com/kannisharath/INFO-5731/tree/main/Project</a:t>
            </a:r>
          </a:p>
        </p:txBody>
      </p:sp>
    </p:spTree>
    <p:extLst>
      <p:ext uri="{BB962C8B-B14F-4D97-AF65-F5344CB8AC3E}">
        <p14:creationId xmlns:p14="http://schemas.microsoft.com/office/powerpoint/2010/main" val="355817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3049</TotalTime>
  <Words>1626</Words>
  <Application>Microsoft Office PowerPoint</Application>
  <PresentationFormat>Widescreen</PresentationFormat>
  <Paragraphs>192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ＭＳ Ｐゴシック</vt:lpstr>
      <vt:lpstr>SimSun</vt:lpstr>
      <vt:lpstr>Arial</vt:lpstr>
      <vt:lpstr>Calibri</vt:lpstr>
      <vt:lpstr>Calibri Light</vt:lpstr>
      <vt:lpstr>Söhne</vt:lpstr>
      <vt:lpstr>Times New Roman</vt:lpstr>
      <vt:lpstr>Wingdings</vt:lpstr>
      <vt:lpstr>Office Theme</vt:lpstr>
      <vt:lpstr>PowerPoint Presentation</vt:lpstr>
      <vt:lpstr>PowerPoint Presentation</vt:lpstr>
      <vt:lpstr>Background</vt:lpstr>
      <vt:lpstr>Background (Cont.)</vt:lpstr>
      <vt:lpstr>Background (Cont.)</vt:lpstr>
      <vt:lpstr>Background (Cont.)</vt:lpstr>
      <vt:lpstr>Related work</vt:lpstr>
      <vt:lpstr>Related work</vt:lpstr>
      <vt:lpstr>Methodology</vt:lpstr>
      <vt:lpstr>Methodology</vt:lpstr>
      <vt:lpstr>Methodology</vt:lpstr>
      <vt:lpstr>Results</vt:lpstr>
      <vt:lpstr>Results</vt:lpstr>
      <vt:lpstr>Evaluation</vt:lpstr>
      <vt:lpstr>Discussion and implication  </vt:lpstr>
      <vt:lpstr>References</vt:lpstr>
      <vt:lpstr>Thank you!  Question?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>Chen, Haihua</dc:creator>
  <cp:lastModifiedBy>kanni sharath</cp:lastModifiedBy>
  <cp:revision>59</cp:revision>
  <dcterms:created xsi:type="dcterms:W3CDTF">2021-12-15T23:14:35Z</dcterms:created>
  <dcterms:modified xsi:type="dcterms:W3CDTF">2024-05-06T04:07:48Z</dcterms:modified>
</cp:coreProperties>
</file>